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0" r:id="rId5"/>
    <p:sldId id="341" r:id="rId6"/>
    <p:sldId id="342" r:id="rId7"/>
    <p:sldId id="343" r:id="rId8"/>
    <p:sldId id="356" r:id="rId9"/>
    <p:sldId id="365" r:id="rId10"/>
    <p:sldId id="366" r:id="rId11"/>
    <p:sldId id="367" r:id="rId12"/>
    <p:sldId id="360" r:id="rId13"/>
    <p:sldId id="358" r:id="rId14"/>
    <p:sldId id="359" r:id="rId15"/>
    <p:sldId id="361" r:id="rId16"/>
    <p:sldId id="368" r:id="rId17"/>
    <p:sldId id="362" r:id="rId18"/>
    <p:sldId id="363" r:id="rId19"/>
    <p:sldId id="3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B2A4A-013F-3CA3-D991-8C77C9B8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4F0B3-9B80-3F0D-4CC9-7B8F3089A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A4BA9-D776-34DF-ED62-095B0CC30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52E96-5FA6-4E95-E4CC-03C8BBBC9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572B-E04B-396E-62DF-29F713C0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4B2D2-94D4-09D3-8BB1-46272DFD9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EEC77-4680-6DFE-EF08-5EB8CC93C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602E-AC31-56E7-4B0D-22DA7E434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08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531F-893E-2E3B-E090-234509AB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595E1-7928-5179-420B-2D0921FF4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156AD-EFE1-0280-246C-3ACBB3FA6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D74B1-A916-7F85-3644-D3D4133D6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01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04F7B-207F-62F9-968D-DE6C1FAB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2E2A5-CF4E-1E61-B890-4CDF1A095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1A9F-2169-F59D-1AD2-40692AEF9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AD550-6E36-9989-8933-49C429ED3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24A3-52CE-E4F0-792D-D11C0702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3ED91-313C-B59F-8154-5D2EFE22C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5FE28-4D55-F5AE-23A8-D918368B5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9726E-3E4A-F2A4-903F-62EC7017E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23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5F00-4F65-ADBF-D535-8499B541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175DE-D0E1-AB34-00E9-AF61E55EB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F47CB-AAF2-E7AA-E13D-DE528AC12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8A357-16F0-7DD7-60F0-E32A741C0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70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4030-097C-57B1-5FAF-62A18ED3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B31A-26B4-41E1-F8B4-E7C8FA04F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2061F-2A63-ADBA-2430-8CF117E6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39BE-B00E-9582-698E-286B30547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705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63D3B-2B12-D900-7751-1B36B371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F0F1F-6C0F-F949-A150-A9466459E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B4519-4F5D-ACA5-9342-2918BA85A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4275C-21E1-FABF-84F8-073D2241E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94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9B79-B6F7-D965-F587-94CC5060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D3910-0ACD-9675-E277-F1341553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B8584-26B2-1E13-FF12-D0D2D56D5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06F8F-5FBA-66B8-F24E-07BA2280B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96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FB11-462B-1CD3-5731-25247197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490D8-D09F-1F12-D76E-DE19F6165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C8AEA-DBC0-7BA2-22CD-53C390873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28A59-F269-CDD5-C871-F6FEC25B5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8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7334-094E-DB17-6D8E-78934CD5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E1ED7-FDA4-CA73-5D50-E4137BA4A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637F3-50F4-CD4C-D776-FEA32F64A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CA61-F96D-1700-1B89-3B2B96471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196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122225"/>
            <a:ext cx="10571998" cy="2733368"/>
          </a:xfrm>
        </p:spPr>
        <p:txBody>
          <a:bodyPr/>
          <a:lstStyle/>
          <a:p>
            <a:r>
              <a:rPr lang="en-IN" sz="4400" u="sng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Potential Drug-Drug Interactions in the </a:t>
            </a:r>
            <a:r>
              <a:rPr lang="en-IN" sz="4400" u="sng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Pediatric</a:t>
            </a:r>
            <a:r>
              <a:rPr lang="en-IN" sz="4400" u="sng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Intensive Care Unit</a:t>
            </a:r>
            <a:br>
              <a:rPr lang="en-IN" sz="4400" u="sng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I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800" b="0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An Analysis using Safe ICU and DD Inter Drug Database</a:t>
            </a:r>
            <a:br>
              <a:rPr lang="en-IN" sz="2800" i="1" u="sng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IN" sz="3600" dirty="0"/>
              <a:t>A Project Presentation </a:t>
            </a:r>
            <a:endParaRPr lang="en-US" sz="4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89C7F-F25B-A809-D26F-A51C6927470B}"/>
              </a:ext>
            </a:extLst>
          </p:cNvPr>
          <p:cNvSpPr txBox="1"/>
          <p:nvPr/>
        </p:nvSpPr>
        <p:spPr>
          <a:xfrm>
            <a:off x="593690" y="4513072"/>
            <a:ext cx="55023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</a:t>
            </a:r>
          </a:p>
          <a:p>
            <a:endParaRPr lang="en-IN" sz="2000" b="1" dirty="0"/>
          </a:p>
          <a:p>
            <a:r>
              <a:rPr lang="en-IN" sz="2000" b="1" dirty="0"/>
              <a:t>Aaron Augustine Fernandes</a:t>
            </a:r>
          </a:p>
          <a:p>
            <a:r>
              <a:rPr lang="en-IN" sz="2000" b="1" dirty="0" err="1"/>
              <a:t>B.Tech</a:t>
            </a:r>
            <a:r>
              <a:rPr lang="en-IN" sz="2000" b="1" dirty="0"/>
              <a:t> IT</a:t>
            </a:r>
          </a:p>
          <a:p>
            <a:r>
              <a:rPr lang="en-IN" sz="2000" b="1" dirty="0"/>
              <a:t>Manipal Institute Of Technology, Bengaluru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21561-99D2-1BFD-0C36-9916B5177933}"/>
              </a:ext>
            </a:extLst>
          </p:cNvPr>
          <p:cNvSpPr txBox="1"/>
          <p:nvPr/>
        </p:nvSpPr>
        <p:spPr>
          <a:xfrm>
            <a:off x="8017044" y="4666960"/>
            <a:ext cx="37226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Under the Guidance of</a:t>
            </a:r>
          </a:p>
          <a:p>
            <a:r>
              <a:rPr lang="en-IN" sz="2000" b="1" dirty="0"/>
              <a:t> </a:t>
            </a:r>
          </a:p>
          <a:p>
            <a:r>
              <a:rPr lang="en-IN" sz="2000" b="1" dirty="0"/>
              <a:t>Prof. Dr. </a:t>
            </a:r>
            <a:r>
              <a:rPr lang="en-IN" sz="2000" b="1" dirty="0" err="1"/>
              <a:t>Tavpritesh</a:t>
            </a:r>
            <a:r>
              <a:rPr lang="en-IN" sz="2000" b="1" dirty="0"/>
              <a:t> Sethi</a:t>
            </a:r>
          </a:p>
          <a:p>
            <a:r>
              <a:rPr lang="en-IN" sz="2000" b="1" dirty="0"/>
              <a:t>IIIT Delhi</a:t>
            </a:r>
          </a:p>
        </p:txBody>
      </p:sp>
      <p:pic>
        <p:nvPicPr>
          <p:cNvPr id="5" name="Picture 4" descr="Logo Usage Guidelines | IIIT-Delhi">
            <a:extLst>
              <a:ext uri="{FF2B5EF4-FFF2-40B4-BE49-F238E27FC236}">
                <a16:creationId xmlns:a16="http://schemas.microsoft.com/office/drawing/2014/main" id="{2EF5BDAB-A403-876F-0C4C-CD1F4B1B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6" y="464745"/>
            <a:ext cx="1091380" cy="657480"/>
          </a:xfrm>
          <a:prstGeom prst="rect">
            <a:avLst/>
          </a:prstGeom>
        </p:spPr>
      </p:pic>
      <p:pic>
        <p:nvPicPr>
          <p:cNvPr id="6" name="Picture 5" descr="Manipal - New logo #newBeginning #ManipalUniversity | Facebook">
            <a:extLst>
              <a:ext uri="{FF2B5EF4-FFF2-40B4-BE49-F238E27FC236}">
                <a16:creationId xmlns:a16="http://schemas.microsoft.com/office/drawing/2014/main" id="{8C898928-8123-F221-867F-26D3B08CD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290" y="464746"/>
            <a:ext cx="678424" cy="65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135" y="629265"/>
            <a:ext cx="3490131" cy="1160207"/>
          </a:xfrm>
        </p:spPr>
        <p:txBody>
          <a:bodyPr/>
          <a:lstStyle/>
          <a:p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7083" y="2005782"/>
            <a:ext cx="10677833" cy="4571999"/>
          </a:xfrm>
        </p:spPr>
        <p:txBody>
          <a:bodyPr>
            <a:normAutofit/>
          </a:bodyPr>
          <a:lstStyle/>
          <a:p>
            <a:r>
              <a:rPr lang="en-IN" dirty="0"/>
              <a:t>Drug–Drug Interactions (DDIs) occur when one medication alters the effect of another, potentially reducing efficacy or increasing toxicity. </a:t>
            </a:r>
          </a:p>
          <a:p>
            <a:r>
              <a:rPr lang="en-IN" dirty="0" err="1"/>
              <a:t>Pediatric</a:t>
            </a:r>
            <a:r>
              <a:rPr lang="en-IN" dirty="0"/>
              <a:t> ICU patients are particularly vulnerable due to polypharmacy, complex treatment regimens, and rapidly changing clinical conditions. </a:t>
            </a:r>
          </a:p>
          <a:p>
            <a:r>
              <a:rPr lang="en-IN" dirty="0"/>
              <a:t>Undetected DDIs can contribute to prolonged hospitalization, adverse drug events, and increased healthcare burden. </a:t>
            </a:r>
          </a:p>
          <a:p>
            <a:r>
              <a:rPr lang="en-IN" b="1" dirty="0"/>
              <a:t>Motivation -</a:t>
            </a:r>
          </a:p>
          <a:p>
            <a:r>
              <a:rPr lang="en-IN" dirty="0"/>
              <a:t>Manual identification of DDIs from clinical records is time-consuming and prone to oversight. </a:t>
            </a:r>
          </a:p>
          <a:p>
            <a:r>
              <a:rPr lang="en-IN" dirty="0"/>
              <a:t>Leveraging the </a:t>
            </a:r>
            <a:r>
              <a:rPr lang="en-IN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SafeICU</a:t>
            </a:r>
            <a:r>
              <a:rPr lang="en-IN" dirty="0"/>
              <a:t> dataset together with the </a:t>
            </a:r>
            <a:r>
              <a:rPr lang="en-IN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DDInter</a:t>
            </a:r>
            <a:r>
              <a:rPr lang="en-IN" dirty="0"/>
              <a:t> database enables automated detection and analysis of potential DDIs. </a:t>
            </a:r>
          </a:p>
          <a:p>
            <a:r>
              <a:rPr lang="en-IN" dirty="0"/>
              <a:t>Understanding the prevalence and risk factors of DDIs can support safer prescribing practices and improve patient outcomes.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0" y="570270"/>
            <a:ext cx="10571998" cy="670489"/>
          </a:xfrm>
        </p:spPr>
        <p:txBody>
          <a:bodyPr/>
          <a:lstStyle/>
          <a:p>
            <a:pPr lvl="0"/>
            <a:r>
              <a:rPr lang="en-US" u="sng" noProof="0" dirty="0"/>
              <a:t>Problem Statement And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768" y="1533832"/>
            <a:ext cx="10972800" cy="5112774"/>
          </a:xfrm>
        </p:spPr>
        <p:txBody>
          <a:bodyPr>
            <a:normAutofit fontScale="92500"/>
          </a:bodyPr>
          <a:lstStyle/>
          <a:p>
            <a:pPr algn="l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Problem Statement</a:t>
            </a:r>
          </a:p>
          <a:p>
            <a:pPr algn="l"/>
            <a:r>
              <a:rPr lang="en-IN" b="0" dirty="0"/>
              <a:t>Patients admitted to the </a:t>
            </a:r>
            <a:r>
              <a:rPr lang="en-IN" b="0" dirty="0" err="1"/>
              <a:t>Pediatric</a:t>
            </a:r>
            <a:r>
              <a:rPr lang="en-IN" b="0" dirty="0"/>
              <a:t> ICU are often prescribed multiple medications at the same time. </a:t>
            </a:r>
          </a:p>
          <a:p>
            <a:pPr algn="l"/>
            <a:r>
              <a:rPr lang="en-IN" b="0" dirty="0"/>
              <a:t>Some of these medicines can interact with each other and lead to unwanted side effects or reduced treatment effectiveness. </a:t>
            </a:r>
          </a:p>
          <a:p>
            <a:pPr algn="l"/>
            <a:r>
              <a:rPr lang="en-IN" b="0" dirty="0"/>
              <a:t>Identifying these interactions manually from clinical notes is difficult and time-consuming. </a:t>
            </a:r>
          </a:p>
          <a:p>
            <a:pPr algn="l"/>
            <a:r>
              <a:rPr lang="en-IN" b="0" dirty="0"/>
              <a:t>There is a need for an automated approach to detect potential drug–drug interactions and support safer medication management. </a:t>
            </a:r>
          </a:p>
          <a:p>
            <a:pPr algn="l"/>
            <a:endParaRPr lang="en-IN" dirty="0"/>
          </a:p>
          <a:p>
            <a:pPr algn="l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Objectives</a:t>
            </a:r>
          </a:p>
          <a:p>
            <a:pPr algn="l"/>
            <a:r>
              <a:rPr lang="en-IN" b="0" dirty="0"/>
              <a:t>Extract prescribed drugs from the </a:t>
            </a:r>
            <a:r>
              <a:rPr lang="en-IN" b="0" dirty="0" err="1"/>
              <a:t>SafeICU</a:t>
            </a:r>
            <a:r>
              <a:rPr lang="en-IN" b="0" dirty="0"/>
              <a:t> clinical notes. </a:t>
            </a:r>
          </a:p>
          <a:p>
            <a:pPr algn="l"/>
            <a:r>
              <a:rPr lang="en-IN" b="0" dirty="0"/>
              <a:t>Identify potential drug–drug interactions using the </a:t>
            </a:r>
            <a:r>
              <a:rPr lang="en-IN" b="0" dirty="0" err="1"/>
              <a:t>DDInter</a:t>
            </a:r>
            <a:r>
              <a:rPr lang="en-IN" b="0" dirty="0"/>
              <a:t> database. </a:t>
            </a:r>
          </a:p>
          <a:p>
            <a:pPr algn="l"/>
            <a:r>
              <a:rPr lang="en-IN" b="0" dirty="0"/>
              <a:t>Classify the detected interactions into Major, Moderate, and Minor categories. </a:t>
            </a:r>
          </a:p>
          <a:p>
            <a:pPr algn="l"/>
            <a:r>
              <a:rPr lang="en-IN" b="0" dirty="0"/>
              <a:t>Study how factors such as age, gender, number of drugs, length of stay, and mortality are associated with DDIs.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Datasets</a:t>
            </a:r>
            <a:b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B68FE-A82F-7399-BC9A-7038748F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064715"/>
              </p:ext>
            </p:extLst>
          </p:nvPr>
        </p:nvGraphicFramePr>
        <p:xfrm>
          <a:off x="4933740" y="813994"/>
          <a:ext cx="6226772" cy="2372771"/>
        </p:xfrm>
        <a:graphic>
          <a:graphicData uri="http://schemas.openxmlformats.org/drawingml/2006/table">
            <a:tbl>
              <a:tblPr/>
              <a:tblGrid>
                <a:gridCol w="3227034">
                  <a:extLst>
                    <a:ext uri="{9D8B030D-6E8A-4147-A177-3AD203B41FA5}">
                      <a16:colId xmlns:a16="http://schemas.microsoft.com/office/drawing/2014/main" val="3181109778"/>
                    </a:ext>
                  </a:extLst>
                </a:gridCol>
                <a:gridCol w="2999738">
                  <a:extLst>
                    <a:ext uri="{9D8B030D-6E8A-4147-A177-3AD203B41FA5}">
                      <a16:colId xmlns:a16="http://schemas.microsoft.com/office/drawing/2014/main" val="1756350453"/>
                    </a:ext>
                  </a:extLst>
                </a:gridCol>
              </a:tblGrid>
              <a:tr h="2589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04151"/>
                  </a:ext>
                </a:extLst>
              </a:tr>
              <a:tr h="4531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440924"/>
                  </a:ext>
                </a:extLst>
              </a:tr>
              <a:tr h="4531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98282"/>
                  </a:ext>
                </a:extLst>
              </a:tr>
              <a:tr h="4531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853917"/>
                  </a:ext>
                </a:extLst>
              </a:tr>
              <a:tr h="6474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37291"/>
                  </a:ext>
                </a:extLst>
              </a:tr>
            </a:tbl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E6A0F70-CBA1-3995-D242-597EE0C016C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75306885"/>
              </p:ext>
            </p:extLst>
          </p:nvPr>
        </p:nvGraphicFramePr>
        <p:xfrm>
          <a:off x="4628561" y="344129"/>
          <a:ext cx="7012722" cy="6180531"/>
        </p:xfrm>
        <a:graphic>
          <a:graphicData uri="http://schemas.openxmlformats.org/drawingml/2006/table">
            <a:tbl>
              <a:tblPr/>
              <a:tblGrid>
                <a:gridCol w="3444861">
                  <a:extLst>
                    <a:ext uri="{9D8B030D-6E8A-4147-A177-3AD203B41FA5}">
                      <a16:colId xmlns:a16="http://schemas.microsoft.com/office/drawing/2014/main" val="2349102033"/>
                    </a:ext>
                  </a:extLst>
                </a:gridCol>
                <a:gridCol w="3567861">
                  <a:extLst>
                    <a:ext uri="{9D8B030D-6E8A-4147-A177-3AD203B41FA5}">
                      <a16:colId xmlns:a16="http://schemas.microsoft.com/office/drawing/2014/main" val="249884301"/>
                    </a:ext>
                  </a:extLst>
                </a:gridCol>
              </a:tblGrid>
              <a:tr h="661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chemeClr val="bg1"/>
                          </a:solidFill>
                        </a:rPr>
                        <a:t> Purpose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042097"/>
                  </a:ext>
                </a:extLst>
              </a:tr>
              <a:tr h="118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bg1"/>
                          </a:solidFill>
                        </a:rPr>
                        <a:t>SafeICU</a:t>
                      </a: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 – Patient Table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Contains patient demographics such as</a:t>
                      </a:r>
                    </a:p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subject_id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,gender , ages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expire_flag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1196 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rows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9314"/>
                  </a:ext>
                </a:extLst>
              </a:tr>
              <a:tr h="147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bg1"/>
                          </a:solidFill>
                        </a:rPr>
                        <a:t>SafeICU</a:t>
                      </a: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 – Admission Table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Provides prescription details such as</a:t>
                      </a:r>
                    </a:p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Subject_id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adm_date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disch_date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release_description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1196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rows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704566"/>
                  </a:ext>
                </a:extLst>
              </a:tr>
              <a:tr h="1203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bg1"/>
                          </a:solidFill>
                        </a:rPr>
                        <a:t>SafeICU</a:t>
                      </a: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 – Note Events Table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Contains clinical notes</a:t>
                      </a:r>
                    </a:p>
                    <a:p>
                      <a:pPr>
                        <a:buNone/>
                      </a:pP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Subject_id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chart_date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diagnosis , description 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1687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rows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016386"/>
                  </a:ext>
                </a:extLst>
              </a:tr>
              <a:tr h="1655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</a:rPr>
                        <a:t>DDInter Database</a:t>
                      </a:r>
                      <a:endParaRPr lang="en-IN" sz="1800">
                        <a:solidFill>
                          <a:schemeClr val="bg1"/>
                        </a:solidFill>
                      </a:endParaRP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Used to identify potential drug–drug interactions and classify them as 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Major, Moderate, or Minor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Contains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Drug_A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</a:t>
                      </a:r>
                      <a:r>
                        <a:rPr lang="en-IN" sz="18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Drug_B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, level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en-IN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4,44,766</a:t>
                      </a:r>
                      <a:r>
                        <a:rPr lang="en-IN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rows</a:t>
                      </a:r>
                    </a:p>
                  </a:txBody>
                  <a:tcPr marL="50379" marR="50379" marT="25189" marB="25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159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033E-C042-8891-1C80-0FF27A8E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B646-94F1-D02F-57C2-CBD0EC14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u="sng" dirty="0">
                <a:solidFill>
                  <a:schemeClr val="accent3"/>
                </a:solidFill>
              </a:rPr>
              <a:t>Methodology </a:t>
            </a:r>
            <a:br>
              <a:rPr lang="en-US" u="sng" dirty="0">
                <a:solidFill>
                  <a:schemeClr val="accent3"/>
                </a:solidFill>
              </a:rPr>
            </a:br>
            <a:r>
              <a:rPr lang="en-US" u="sng" dirty="0">
                <a:solidFill>
                  <a:schemeClr val="accent3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BFC65-95E8-7CCC-E25C-75DE09864E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88311" y="1671484"/>
            <a:ext cx="6242856" cy="3529781"/>
          </a:xfrm>
        </p:spPr>
        <p:txBody>
          <a:bodyPr>
            <a:noAutofit/>
          </a:bodyPr>
          <a:lstStyle/>
          <a:p>
            <a:pPr lvl="0" algn="ctr"/>
            <a:r>
              <a:rPr lang="en-US" sz="850" dirty="0" err="1">
                <a:latin typeface="Arial Black" panose="020B0A04020102020204" pitchFamily="34" charset="0"/>
              </a:rPr>
              <a:t>SafeICU</a:t>
            </a:r>
            <a:r>
              <a:rPr lang="en-US" sz="850" dirty="0">
                <a:latin typeface="Arial Black" panose="020B0A04020102020204" pitchFamily="34" charset="0"/>
              </a:rPr>
              <a:t> Dataset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(Patient, Admission &amp; Note Events)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Data Cleaning &amp; Preprocessing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(Remove duplicates, handle missing values)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Drug Extraction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(Extract prescribed drugs from clinical notes)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Drug Pair Generation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(Create all possible drug combinations)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 err="1">
                <a:latin typeface="Arial Black" panose="020B0A04020102020204" pitchFamily="34" charset="0"/>
              </a:rPr>
              <a:t>DDInter</a:t>
            </a:r>
            <a:r>
              <a:rPr lang="en-US" sz="850" dirty="0">
                <a:latin typeface="Arial Black" panose="020B0A04020102020204" pitchFamily="34" charset="0"/>
              </a:rPr>
              <a:t> Database Matching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(Identify potential drug interactions)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Severity Classification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(Major • Moderate • Minor)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Final Patient-Day Dataset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(Drug list, DDI count, LOS, Age, Gender, Mortality)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│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               ▼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Statistical Analysis</a:t>
            </a:r>
          </a:p>
          <a:p>
            <a:pPr lvl="0" algn="ctr"/>
            <a:r>
              <a:rPr lang="en-US" sz="850" dirty="0">
                <a:latin typeface="Arial Black" panose="020B0A04020102020204" pitchFamily="34" charset="0"/>
              </a:rPr>
              <a:t>(DDI prevalence, LOS, Logistic Regression)</a:t>
            </a:r>
            <a:endParaRPr lang="en-US" sz="850" noProof="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3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030D-939F-FE6F-F4EA-9F5B650B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27E6-D9C0-1594-94D4-F0433D68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090" y="629266"/>
            <a:ext cx="3942735" cy="953728"/>
          </a:xfrm>
          <a:effectLst>
            <a:glow rad="228600">
              <a:schemeClr val="accent1">
                <a:satMod val="175000"/>
                <a:alpha val="40000"/>
              </a:schemeClr>
            </a:glow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28DF3-6FF1-76C2-B71B-2505B3708C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432" y="1848465"/>
            <a:ext cx="11277600" cy="4837470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1. Data Import and Preprocessing</a:t>
            </a:r>
          </a:p>
          <a:p>
            <a:r>
              <a:rPr lang="en-IN" dirty="0"/>
              <a:t>Imported the </a:t>
            </a:r>
            <a:r>
              <a:rPr lang="en-IN" b="1" dirty="0" err="1"/>
              <a:t>SafeICU</a:t>
            </a:r>
            <a:r>
              <a:rPr lang="en-IN" b="1" dirty="0"/>
              <a:t> Patient, Admission, and Note Events</a:t>
            </a:r>
            <a:r>
              <a:rPr lang="en-IN" dirty="0"/>
              <a:t> tables along with the </a:t>
            </a:r>
            <a:r>
              <a:rPr lang="en-IN" b="1" dirty="0" err="1"/>
              <a:t>DDInter</a:t>
            </a:r>
            <a:r>
              <a:rPr lang="en-IN" dirty="0"/>
              <a:t> database into the Kaggle Notebook environment. </a:t>
            </a:r>
          </a:p>
          <a:p>
            <a:r>
              <a:rPr lang="en-IN" dirty="0"/>
              <a:t>Performed data cleaning by removing </a:t>
            </a:r>
            <a:r>
              <a:rPr lang="en-IN" b="1" dirty="0"/>
              <a:t>duplicate records, handling missing values, and standardizing drug names to lowercase </a:t>
            </a:r>
            <a:r>
              <a:rPr lang="en-IN" dirty="0"/>
              <a:t>for consistent matching. </a:t>
            </a:r>
          </a:p>
          <a:p>
            <a:r>
              <a:rPr lang="en-IN" dirty="0"/>
              <a:t>Verified dataset quality by checking data dimensions, data types, and missing values before further analysis. </a:t>
            </a:r>
          </a:p>
          <a:p>
            <a:r>
              <a:rPr lang="en-IN" sz="2000" b="1" dirty="0"/>
              <a:t>2. Drug Extraction</a:t>
            </a:r>
          </a:p>
          <a:p>
            <a:r>
              <a:rPr lang="en-IN" dirty="0"/>
              <a:t>Extracted medication names from free-text clinical notes using a rule-based text processing pipeline. </a:t>
            </a:r>
          </a:p>
          <a:p>
            <a:r>
              <a:rPr lang="en-IN" b="1" dirty="0"/>
              <a:t>Removed punctuation, tokenized the text, and matched tokens against a predefined list of valid drug names</a:t>
            </a:r>
            <a:r>
              <a:rPr lang="en-IN" dirty="0"/>
              <a:t>. </a:t>
            </a:r>
          </a:p>
          <a:p>
            <a:r>
              <a:rPr lang="en-IN" dirty="0"/>
              <a:t>Grouped the extracted medications by </a:t>
            </a:r>
            <a:r>
              <a:rPr lang="en-IN" b="1" dirty="0" err="1"/>
              <a:t>subject_id</a:t>
            </a:r>
            <a:r>
              <a:rPr lang="en-IN" dirty="0"/>
              <a:t> and </a:t>
            </a:r>
            <a:r>
              <a:rPr lang="en-IN" b="1" dirty="0" err="1"/>
              <a:t>chart_date</a:t>
            </a:r>
            <a:r>
              <a:rPr lang="en-IN" dirty="0"/>
              <a:t> to create patient-day medication records.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36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D6901-2A50-E2A5-16DA-DCE97AD3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20430A-B3AD-BAA4-FF98-A213CA0F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2" y="747252"/>
            <a:ext cx="10774277" cy="5437239"/>
          </a:xfrm>
        </p:spPr>
        <p:txBody>
          <a:bodyPr>
            <a:normAutofit/>
          </a:bodyPr>
          <a:lstStyle/>
          <a:p>
            <a:pPr algn="l"/>
            <a:r>
              <a:rPr lang="en-IN" sz="2400" dirty="0"/>
              <a:t>3. Drug Combination Generation &amp; DDI Detection</a:t>
            </a:r>
          </a:p>
          <a:p>
            <a:pPr algn="l"/>
            <a:r>
              <a:rPr lang="en-IN" sz="2000" b="0" dirty="0"/>
              <a:t>Generated all </a:t>
            </a:r>
            <a:r>
              <a:rPr lang="en-IN" sz="2000" dirty="0"/>
              <a:t>possible two-drug combinations </a:t>
            </a:r>
            <a:r>
              <a:rPr lang="en-IN" sz="2000" b="0" dirty="0"/>
              <a:t>for each patient-day using Python's </a:t>
            </a:r>
            <a:r>
              <a:rPr lang="en-IN" sz="2000" b="0" dirty="0" err="1"/>
              <a:t>itertools.combinations</a:t>
            </a:r>
            <a:r>
              <a:rPr lang="en-IN" sz="2000" b="0" dirty="0"/>
              <a:t>(). </a:t>
            </a:r>
          </a:p>
          <a:p>
            <a:pPr algn="l"/>
            <a:r>
              <a:rPr lang="en-IN" sz="2000" b="0" dirty="0"/>
              <a:t>Compared each generated drug pair with </a:t>
            </a:r>
            <a:r>
              <a:rPr lang="en-IN" sz="2000" dirty="0"/>
              <a:t>the </a:t>
            </a:r>
            <a:r>
              <a:rPr lang="en-IN" sz="2000" dirty="0" err="1"/>
              <a:t>DDInter</a:t>
            </a:r>
            <a:r>
              <a:rPr lang="en-IN" sz="2000" dirty="0"/>
              <a:t> lookup dictionary </a:t>
            </a:r>
            <a:r>
              <a:rPr lang="en-IN" sz="2000" b="0" dirty="0"/>
              <a:t>to identify clinically recognized potential DDIs. </a:t>
            </a:r>
          </a:p>
          <a:p>
            <a:pPr algn="l"/>
            <a:r>
              <a:rPr lang="en-IN" sz="2000" dirty="0"/>
              <a:t>Retained only matched drug pairs </a:t>
            </a:r>
            <a:r>
              <a:rPr lang="en-IN" sz="2000" b="0" dirty="0"/>
              <a:t>for further severity classification and analysis. </a:t>
            </a:r>
          </a:p>
          <a:p>
            <a:pPr algn="l"/>
            <a:endParaRPr lang="en-IN" sz="2000" b="0" dirty="0"/>
          </a:p>
          <a:p>
            <a:pPr algn="l"/>
            <a:r>
              <a:rPr lang="en-IN" sz="2400" dirty="0"/>
              <a:t>4. Severity Classification &amp; Admission Integration</a:t>
            </a:r>
          </a:p>
          <a:p>
            <a:pPr algn="l"/>
            <a:r>
              <a:rPr lang="en-IN" sz="2000" b="0" dirty="0"/>
              <a:t>Classified detected interactions into </a:t>
            </a:r>
            <a:r>
              <a:rPr lang="en-IN" sz="2000" dirty="0"/>
              <a:t>Major, Moderate, and Minor severity </a:t>
            </a:r>
            <a:r>
              <a:rPr lang="en-IN" sz="2000" b="0" dirty="0"/>
              <a:t>categories. </a:t>
            </a:r>
          </a:p>
          <a:p>
            <a:pPr algn="l"/>
            <a:r>
              <a:rPr lang="en-IN" sz="2000" b="0" dirty="0"/>
              <a:t>Recorded both the interacting drug pairs and the corresponding number of interactions for each patient-day. </a:t>
            </a:r>
          </a:p>
          <a:p>
            <a:pPr algn="l"/>
            <a:r>
              <a:rPr lang="en-IN" sz="2000" b="0" dirty="0"/>
              <a:t>Linked each patient-day record to the correct hospital admission using admission and discharge dates, and calculated the Length of Stay (LOS). </a:t>
            </a:r>
          </a:p>
          <a:p>
            <a:pPr lvl="0"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453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971F-D27A-D467-5EB4-815EB206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B722B6-C721-E18B-D6AA-511547842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774" y="953729"/>
            <a:ext cx="10774277" cy="5437239"/>
          </a:xfrm>
        </p:spPr>
        <p:txBody>
          <a:bodyPr>
            <a:normAutofit/>
          </a:bodyPr>
          <a:lstStyle/>
          <a:p>
            <a:pPr algn="l"/>
            <a:r>
              <a:rPr lang="en-IN" sz="2000" dirty="0"/>
              <a:t>5. Final Analytical Dataset</a:t>
            </a:r>
          </a:p>
          <a:p>
            <a:pPr algn="l"/>
            <a:r>
              <a:rPr lang="en-IN" sz="2000" b="0" dirty="0"/>
              <a:t>Merged the patient-day DDI records with demographic information from the Patient table. </a:t>
            </a:r>
          </a:p>
          <a:p>
            <a:pPr algn="l"/>
            <a:r>
              <a:rPr lang="en-IN" sz="2000" b="0" dirty="0"/>
              <a:t>Included variables such as </a:t>
            </a:r>
            <a:r>
              <a:rPr lang="en-IN" sz="2000" dirty="0"/>
              <a:t>age, gender, mortality status, medications, DDI severity, number of drugs, and LOS. </a:t>
            </a:r>
          </a:p>
          <a:p>
            <a:pPr algn="l"/>
            <a:r>
              <a:rPr lang="en-IN" sz="2000" b="0" dirty="0"/>
              <a:t>Constructed a comprehensive patient-day dataset for downstream statistical analysis. </a:t>
            </a:r>
          </a:p>
          <a:p>
            <a:pPr algn="l"/>
            <a:br>
              <a:rPr lang="en-IN" sz="2000" dirty="0"/>
            </a:br>
            <a:r>
              <a:rPr lang="en-IN" sz="2000" dirty="0"/>
              <a:t>6. Exploratory Data Analysis</a:t>
            </a:r>
          </a:p>
          <a:p>
            <a:pPr algn="l"/>
            <a:r>
              <a:rPr lang="en-IN" sz="2000" b="0" dirty="0"/>
              <a:t>Summarized </a:t>
            </a:r>
            <a:r>
              <a:rPr lang="en-IN" sz="2000" dirty="0"/>
              <a:t>patient demographics and medication utilization </a:t>
            </a:r>
            <a:r>
              <a:rPr lang="en-IN" sz="2000" b="0" dirty="0"/>
              <a:t>across the study population. </a:t>
            </a:r>
          </a:p>
          <a:p>
            <a:pPr algn="l"/>
            <a:r>
              <a:rPr lang="en-IN" sz="2000" b="0" dirty="0"/>
              <a:t>Evaluated </a:t>
            </a:r>
            <a:r>
              <a:rPr lang="en-IN" sz="2000" dirty="0"/>
              <a:t>DDI prevalence, severity distribution, and the most frequently occurring interacting drug pairs. </a:t>
            </a:r>
          </a:p>
          <a:p>
            <a:pPr algn="l"/>
            <a:r>
              <a:rPr lang="en-IN" sz="2000" b="0" dirty="0"/>
              <a:t>Compared </a:t>
            </a:r>
            <a:r>
              <a:rPr lang="en-IN" sz="2000" dirty="0"/>
              <a:t>patients with and without DDIs</a:t>
            </a:r>
            <a:r>
              <a:rPr lang="en-IN" sz="2000" b="0" dirty="0"/>
              <a:t> and examined key clinical characteristics before statistical </a:t>
            </a:r>
            <a:r>
              <a:rPr lang="en-IN" sz="2000" b="0" dirty="0" err="1"/>
              <a:t>modeling</a:t>
            </a:r>
            <a:r>
              <a:rPr lang="en-IN" sz="2000" b="0" dirty="0"/>
              <a:t>.</a:t>
            </a:r>
          </a:p>
          <a:p>
            <a:pPr lvl="0" algn="l"/>
            <a:endParaRPr lang="en-US" sz="2000" b="0" noProof="0" dirty="0"/>
          </a:p>
        </p:txBody>
      </p:sp>
    </p:spTree>
    <p:extLst>
      <p:ext uri="{BB962C8B-B14F-4D97-AF65-F5344CB8AC3E}">
        <p14:creationId xmlns:p14="http://schemas.microsoft.com/office/powerpoint/2010/main" val="319190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C17E-3A38-EC19-0B52-D45CE111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3B0C-BDFF-ADCA-27F3-8FDD07F5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 Analytical Dataset</a:t>
            </a:r>
            <a:endParaRPr lang="en-US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CB1D-6841-D246-DD56-81164C290D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8144" y="944110"/>
            <a:ext cx="6242856" cy="5009322"/>
          </a:xfrm>
        </p:spPr>
        <p:txBody>
          <a:bodyPr>
            <a:noAutofit/>
          </a:bodyPr>
          <a:lstStyle/>
          <a:p>
            <a:r>
              <a:rPr lang="en-IN" b="1" u="sng" dirty="0"/>
              <a:t>Final Dataset</a:t>
            </a:r>
          </a:p>
          <a:p>
            <a:r>
              <a:rPr lang="en-IN" sz="1400" dirty="0"/>
              <a:t>After processing and DDI detection, a patient-day level dataset was created for analysis.</a:t>
            </a:r>
          </a:p>
          <a:p>
            <a:r>
              <a:rPr lang="en-IN" sz="1400" dirty="0"/>
              <a:t>The final dataset included:</a:t>
            </a:r>
          </a:p>
          <a:p>
            <a:r>
              <a:rPr lang="en-IN" sz="1400" b="1" dirty="0"/>
              <a:t>- Subject ID </a:t>
            </a:r>
          </a:p>
          <a:p>
            <a:r>
              <a:rPr lang="en-IN" sz="1400" b="1" dirty="0"/>
              <a:t>- Patient demographics (Age &amp; Gender) </a:t>
            </a:r>
          </a:p>
          <a:p>
            <a:r>
              <a:rPr lang="en-IN" sz="1400" b="1" dirty="0"/>
              <a:t>- Number of prescribed drugs </a:t>
            </a:r>
          </a:p>
          <a:p>
            <a:r>
              <a:rPr lang="en-IN" sz="1400" b="1" dirty="0"/>
              <a:t>- Drug list for each patient-day </a:t>
            </a:r>
          </a:p>
          <a:p>
            <a:r>
              <a:rPr lang="en-IN" sz="1400" b="1" dirty="0"/>
              <a:t>- Major, Moderate, and Minor DDIs </a:t>
            </a:r>
          </a:p>
          <a:p>
            <a:r>
              <a:rPr lang="en-IN" sz="1400" b="1" dirty="0"/>
              <a:t>- Total DDI count </a:t>
            </a:r>
          </a:p>
          <a:p>
            <a:r>
              <a:rPr lang="en-IN" sz="1400" b="1" dirty="0"/>
              <a:t>- Length of Stay (LOS) </a:t>
            </a:r>
          </a:p>
          <a:p>
            <a:r>
              <a:rPr lang="en-IN" sz="1400" b="1" dirty="0"/>
              <a:t>- Mortality status </a:t>
            </a:r>
          </a:p>
          <a:p>
            <a:r>
              <a:rPr lang="en-IN" b="1" u="sng" dirty="0"/>
              <a:t>Statistical Analysis Performed</a:t>
            </a:r>
          </a:p>
          <a:p>
            <a:r>
              <a:rPr lang="en-IN" sz="1400" b="1" dirty="0"/>
              <a:t>- Patient characteristics </a:t>
            </a:r>
          </a:p>
          <a:p>
            <a:r>
              <a:rPr lang="en-IN" sz="1400" b="1" dirty="0"/>
              <a:t>- DDI prevalence </a:t>
            </a:r>
          </a:p>
          <a:p>
            <a:r>
              <a:rPr lang="en-IN" sz="1400" b="1" dirty="0"/>
              <a:t>- Most frequent drug interaction pairs </a:t>
            </a:r>
          </a:p>
          <a:p>
            <a:r>
              <a:rPr lang="en-IN" sz="1400" b="1" dirty="0"/>
              <a:t>- Multivariate logistic regression</a:t>
            </a:r>
          </a:p>
          <a:p>
            <a:pPr lvl="0"/>
            <a:endParaRPr lang="en-US" sz="800" dirty="0"/>
          </a:p>
          <a:p>
            <a:pPr lvl="0" algn="ctr"/>
            <a:endParaRPr lang="en-US" sz="300" noProof="0" dirty="0"/>
          </a:p>
        </p:txBody>
      </p:sp>
    </p:spTree>
    <p:extLst>
      <p:ext uri="{BB962C8B-B14F-4D97-AF65-F5344CB8AC3E}">
        <p14:creationId xmlns:p14="http://schemas.microsoft.com/office/powerpoint/2010/main" val="147086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C0F2-252C-3C7B-6D04-324B793B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7C50-0477-EB72-FBCE-C4FDDCB8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2" y="658760"/>
            <a:ext cx="11090787" cy="1032387"/>
          </a:xfrm>
        </p:spPr>
        <p:txBody>
          <a:bodyPr/>
          <a:lstStyle/>
          <a:p>
            <a:r>
              <a:rPr lang="en-IN" u="sng" dirty="0"/>
              <a:t>Most Frequent Drug Interactions</a:t>
            </a:r>
            <a:br>
              <a:rPr lang="en-IN" dirty="0"/>
            </a:br>
            <a:endParaRPr lang="en-US" noProof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CAD0536-A5B7-D00C-F16A-D770B5451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483" y="1174953"/>
            <a:ext cx="8249266" cy="673511"/>
          </a:xfrm>
        </p:spPr>
        <p:txBody>
          <a:bodyPr/>
          <a:lstStyle/>
          <a:p>
            <a:r>
              <a:rPr lang="en-IN" dirty="0"/>
              <a:t>Top 5 Most Frequent Major , Moderate And Minor Drug Pairs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892C7-F742-615C-147A-4E9677A85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57" y="2207337"/>
            <a:ext cx="4058207" cy="3377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78AF06-4D83-D344-10DE-3EFA66546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35" y="2207339"/>
            <a:ext cx="3950052" cy="3377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8908BA-963C-74CB-E0B6-7A080CFC7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748" y="2207338"/>
            <a:ext cx="4326193" cy="3377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D3EEC9-20BA-E6B2-E44D-1F3F32886915}"/>
              </a:ext>
            </a:extLst>
          </p:cNvPr>
          <p:cNvSpPr txBox="1"/>
          <p:nvPr/>
        </p:nvSpPr>
        <p:spPr>
          <a:xfrm>
            <a:off x="2251585" y="5683047"/>
            <a:ext cx="102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Major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57EA8-C17A-91D2-80CC-534DEDBC82CB}"/>
              </a:ext>
            </a:extLst>
          </p:cNvPr>
          <p:cNvSpPr txBox="1"/>
          <p:nvPr/>
        </p:nvSpPr>
        <p:spPr>
          <a:xfrm>
            <a:off x="5565059" y="5683047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4F6FC-DD24-A6FB-320C-BB4DCE0FC75B}"/>
              </a:ext>
            </a:extLst>
          </p:cNvPr>
          <p:cNvSpPr txBox="1"/>
          <p:nvPr/>
        </p:nvSpPr>
        <p:spPr>
          <a:xfrm>
            <a:off x="9429136" y="5683047"/>
            <a:ext cx="102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Minor</a:t>
            </a:r>
          </a:p>
        </p:txBody>
      </p:sp>
    </p:spTree>
    <p:extLst>
      <p:ext uri="{BB962C8B-B14F-4D97-AF65-F5344CB8AC3E}">
        <p14:creationId xmlns:p14="http://schemas.microsoft.com/office/powerpoint/2010/main" val="133077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447A-2E6B-0B31-E3B9-BCE9A36C3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E2D3-A4C8-FBF8-3BA7-A31E4BFD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987" y="727588"/>
            <a:ext cx="5860025" cy="835740"/>
          </a:xfrm>
          <a:effectLst>
            <a:glow rad="228600">
              <a:schemeClr val="accent1">
                <a:satMod val="175000"/>
                <a:alpha val="40000"/>
              </a:schemeClr>
            </a:glow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r>
              <a:rPr lang="en-IN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Exploratory Results</a:t>
            </a:r>
            <a:endParaRPr lang="en-US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9F10-0327-6D6E-D4F4-41956E6B72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1277" y="1691149"/>
            <a:ext cx="7688826" cy="4896464"/>
          </a:xfrm>
        </p:spPr>
        <p:txBody>
          <a:bodyPr>
            <a:normAutofit fontScale="92500" lnSpcReduction="10000"/>
          </a:bodyPr>
          <a:lstStyle/>
          <a:p>
            <a:r>
              <a:rPr lang="en-IN" b="1" u="sng" dirty="0"/>
              <a:t>Dataset Overview</a:t>
            </a:r>
          </a:p>
          <a:p>
            <a:r>
              <a:rPr lang="en-IN" dirty="0"/>
              <a:t>Final analytical dataset consisted of </a:t>
            </a:r>
            <a:r>
              <a:rPr lang="en-IN" b="1" dirty="0"/>
              <a:t>6,941 patient-day records</a:t>
            </a:r>
            <a:r>
              <a:rPr lang="en-IN" dirty="0"/>
              <a:t> from </a:t>
            </a:r>
            <a:r>
              <a:rPr lang="en-IN" b="1" dirty="0"/>
              <a:t>709 unique patients</a:t>
            </a:r>
            <a:r>
              <a:rPr lang="en-IN" dirty="0"/>
              <a:t>. </a:t>
            </a:r>
          </a:p>
          <a:p>
            <a:r>
              <a:rPr lang="en-IN" b="1" dirty="0"/>
              <a:t>435 patients</a:t>
            </a:r>
            <a:r>
              <a:rPr lang="en-IN" dirty="0"/>
              <a:t> had at least one potential Drug–Drug Interaction (DDI), while </a:t>
            </a:r>
            <a:r>
              <a:rPr lang="en-IN" b="1" dirty="0"/>
              <a:t>274 patients</a:t>
            </a:r>
            <a:r>
              <a:rPr lang="en-IN" dirty="0"/>
              <a:t> had no identified DDIs.</a:t>
            </a:r>
          </a:p>
          <a:p>
            <a:r>
              <a:rPr lang="en-IN" dirty="0"/>
              <a:t>The median age of the study population was </a:t>
            </a:r>
            <a:r>
              <a:rPr lang="en-IN" b="1" dirty="0"/>
              <a:t>5.36 years</a:t>
            </a:r>
            <a:r>
              <a:rPr lang="en-IN" dirty="0"/>
              <a:t>, with ages ranging from </a:t>
            </a:r>
            <a:r>
              <a:rPr lang="en-IN" b="1" dirty="0"/>
              <a:t>0.17 to 18.85 years</a:t>
            </a:r>
            <a:r>
              <a:rPr lang="en-IN" dirty="0"/>
              <a:t>. </a:t>
            </a:r>
          </a:p>
          <a:p>
            <a:r>
              <a:rPr lang="en-IN" dirty="0"/>
              <a:t>The study included </a:t>
            </a:r>
            <a:r>
              <a:rPr lang="en-IN" b="1" dirty="0"/>
              <a:t>427 Male patients </a:t>
            </a:r>
            <a:r>
              <a:rPr lang="en-IN" dirty="0"/>
              <a:t>and </a:t>
            </a:r>
            <a:r>
              <a:rPr lang="en-IN" b="1" dirty="0"/>
              <a:t>282 female patients</a:t>
            </a:r>
            <a:r>
              <a:rPr lang="en-IN" dirty="0"/>
              <a:t>, and </a:t>
            </a:r>
            <a:r>
              <a:rPr lang="en-IN" b="1" dirty="0"/>
              <a:t>4275 Male prescriptions </a:t>
            </a:r>
            <a:r>
              <a:rPr lang="en-IN" dirty="0"/>
              <a:t>and </a:t>
            </a:r>
            <a:r>
              <a:rPr lang="en-IN" b="1" dirty="0"/>
              <a:t>2666 Female prescriptions </a:t>
            </a:r>
            <a:r>
              <a:rPr lang="en-IN" dirty="0"/>
              <a:t>,providing a representative </a:t>
            </a:r>
            <a:r>
              <a:rPr lang="en-IN" dirty="0" err="1"/>
              <a:t>pediatric</a:t>
            </a:r>
            <a:r>
              <a:rPr lang="en-IN" dirty="0"/>
              <a:t> ICU population. </a:t>
            </a:r>
          </a:p>
          <a:p>
            <a:r>
              <a:rPr lang="en-IN" b="1" u="sng" dirty="0"/>
              <a:t>Key Observations</a:t>
            </a:r>
          </a:p>
          <a:p>
            <a:r>
              <a:rPr lang="en-IN" dirty="0"/>
              <a:t>A considerable proportion of patients experienced at least one potential DDI. </a:t>
            </a:r>
          </a:p>
          <a:p>
            <a:r>
              <a:rPr lang="en-IN" dirty="0"/>
              <a:t>Most detected interactions belonged to the </a:t>
            </a:r>
            <a:r>
              <a:rPr lang="en-IN" b="1" dirty="0"/>
              <a:t>Moderate</a:t>
            </a:r>
            <a:r>
              <a:rPr lang="en-IN" dirty="0"/>
              <a:t> severity category. </a:t>
            </a:r>
          </a:p>
          <a:p>
            <a:pPr lvl="0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D3AD9-4134-2E45-02BC-E894909B1642}"/>
              </a:ext>
            </a:extLst>
          </p:cNvPr>
          <p:cNvSpPr txBox="1"/>
          <p:nvPr/>
        </p:nvSpPr>
        <p:spPr>
          <a:xfrm>
            <a:off x="8613059" y="2063298"/>
            <a:ext cx="32348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-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6,941</a:t>
            </a:r>
            <a:br>
              <a:rPr lang="en-IN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Patient-Day Records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-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1679 DDI’s</a:t>
            </a:r>
            <a:br>
              <a:rPr lang="en-IN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Major Severity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- 6807 DDI’s</a:t>
            </a:r>
          </a:p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Moderate Severity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- 921 DDI’s</a:t>
            </a:r>
            <a:br>
              <a:rPr lang="en-IN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Minor Severity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- 5.36 yrs </a:t>
            </a:r>
          </a:p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Median age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- 0.17 yrs</a:t>
            </a:r>
          </a:p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Min age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 - 18.85 yrs</a:t>
            </a:r>
          </a:p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Max age</a:t>
            </a:r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C2D2D3-5E99-68A3-BF54-FE87C88C9600}"/>
              </a:ext>
            </a:extLst>
          </p:cNvPr>
          <p:cNvCxnSpPr>
            <a:cxnSpLocks/>
          </p:cNvCxnSpPr>
          <p:nvPr/>
        </p:nvCxnSpPr>
        <p:spPr>
          <a:xfrm>
            <a:off x="8327923" y="1956619"/>
            <a:ext cx="0" cy="4257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05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EC18-94C7-AB9F-1C2C-51F5A911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B101-13F5-CE39-4C5F-62E0BBF0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48932"/>
            <a:ext cx="7403690" cy="1071715"/>
          </a:xfrm>
          <a:effectLst>
            <a:glow rad="228600">
              <a:schemeClr val="accent1">
                <a:satMod val="175000"/>
                <a:alpha val="40000"/>
              </a:schemeClr>
            </a:glow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Multivariate Logistic Regression – Model Development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99672-89EA-3388-BF49-38073F3595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8929" y="2050025"/>
            <a:ext cx="7403690" cy="4517923"/>
          </a:xfrm>
        </p:spPr>
        <p:txBody>
          <a:bodyPr>
            <a:normAutofit/>
          </a:bodyPr>
          <a:lstStyle/>
          <a:p>
            <a:r>
              <a:rPr lang="en-IN" dirty="0"/>
              <a:t>Used the </a:t>
            </a:r>
            <a:r>
              <a:rPr lang="en-IN" b="1" dirty="0"/>
              <a:t>final patient-day dataset</a:t>
            </a:r>
            <a:r>
              <a:rPr lang="en-IN" dirty="0"/>
              <a:t>, where each row represented a unique patient-day observation.</a:t>
            </a:r>
          </a:p>
          <a:p>
            <a:r>
              <a:rPr lang="en-IN" dirty="0"/>
              <a:t>Selected </a:t>
            </a:r>
            <a:r>
              <a:rPr lang="en-IN" b="1" dirty="0"/>
              <a:t>age, gender, number of prescribed drugs, and mortality</a:t>
            </a:r>
            <a:r>
              <a:rPr lang="en-IN" dirty="0"/>
              <a:t> as </a:t>
            </a:r>
            <a:r>
              <a:rPr lang="en-IN" b="1" dirty="0"/>
              <a:t>predictor variables</a:t>
            </a:r>
            <a:r>
              <a:rPr lang="en-IN" dirty="0"/>
              <a:t>, with </a:t>
            </a:r>
            <a:r>
              <a:rPr lang="en-IN" b="1" dirty="0"/>
              <a:t>DDI occurrence (0 = No DDI, 1 = DDI)</a:t>
            </a:r>
            <a:r>
              <a:rPr lang="en-IN" dirty="0"/>
              <a:t> as the </a:t>
            </a:r>
            <a:r>
              <a:rPr lang="en-IN" b="1" dirty="0"/>
              <a:t>outcome variable</a:t>
            </a:r>
            <a:r>
              <a:rPr lang="en-IN" dirty="0"/>
              <a:t>. </a:t>
            </a:r>
          </a:p>
          <a:p>
            <a:r>
              <a:rPr lang="en-IN" dirty="0"/>
              <a:t>Removed records with </a:t>
            </a:r>
            <a:r>
              <a:rPr lang="en-IN" b="1" dirty="0"/>
              <a:t>missing predictor </a:t>
            </a:r>
            <a:r>
              <a:rPr lang="en-IN" dirty="0"/>
              <a:t>values and </a:t>
            </a:r>
            <a:r>
              <a:rPr lang="en-IN" b="1" dirty="0"/>
              <a:t>encoded gender as a binary categorical variable (Male : 0, Female : 1)</a:t>
            </a:r>
            <a:r>
              <a:rPr lang="en-IN" dirty="0"/>
              <a:t> before model training. </a:t>
            </a:r>
          </a:p>
          <a:p>
            <a:r>
              <a:rPr lang="en-IN" dirty="0"/>
              <a:t>Fitted a multivariate logistic regression model.</a:t>
            </a:r>
          </a:p>
          <a:p>
            <a:r>
              <a:rPr lang="en-IN" dirty="0"/>
              <a:t>Reported </a:t>
            </a:r>
            <a:r>
              <a:rPr lang="en-IN" b="1" dirty="0"/>
              <a:t>Adjusted Odds Ratios (ORs), 95% Confidence Intervals (CIs), and p-values</a:t>
            </a:r>
            <a:r>
              <a:rPr lang="en-IN" dirty="0"/>
              <a:t> to evaluate the independent association of each predictor with DDI occurrence.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6351B-D520-AA61-F91A-E94E5E08206B}"/>
              </a:ext>
            </a:extLst>
          </p:cNvPr>
          <p:cNvSpPr txBox="1"/>
          <p:nvPr/>
        </p:nvSpPr>
        <p:spPr>
          <a:xfrm>
            <a:off x="8485238" y="560440"/>
            <a:ext cx="32348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Final Patient-Day Dataset</a:t>
            </a:r>
          </a:p>
          <a:p>
            <a:pPr algn="ctr"/>
            <a:r>
              <a:rPr lang="en-IN" dirty="0"/>
              <a:t> │</a:t>
            </a:r>
          </a:p>
          <a:p>
            <a:pPr algn="ctr"/>
            <a:r>
              <a:rPr lang="en-IN" dirty="0"/>
              <a:t> ▼</a:t>
            </a:r>
          </a:p>
          <a:p>
            <a:pPr algn="ctr"/>
            <a:r>
              <a:rPr lang="en-IN" dirty="0"/>
              <a:t>Feature Selection</a:t>
            </a:r>
          </a:p>
          <a:p>
            <a:pPr algn="ctr"/>
            <a:r>
              <a:rPr lang="en-IN" dirty="0"/>
              <a:t>(Age, Gender,</a:t>
            </a:r>
          </a:p>
          <a:p>
            <a:pPr algn="ctr"/>
            <a:r>
              <a:rPr lang="en-IN" dirty="0"/>
              <a:t>No. of Drugs,</a:t>
            </a:r>
          </a:p>
          <a:p>
            <a:pPr algn="ctr"/>
            <a:r>
              <a:rPr lang="en-IN" dirty="0"/>
              <a:t>Mortality)</a:t>
            </a:r>
          </a:p>
          <a:p>
            <a:pPr algn="ctr"/>
            <a:r>
              <a:rPr lang="en-IN" dirty="0"/>
              <a:t> │</a:t>
            </a:r>
          </a:p>
          <a:p>
            <a:pPr algn="ctr"/>
            <a:r>
              <a:rPr lang="en-IN" dirty="0"/>
              <a:t> ▼</a:t>
            </a:r>
          </a:p>
          <a:p>
            <a:pPr algn="ctr"/>
            <a:r>
              <a:rPr lang="en-IN" dirty="0"/>
              <a:t>Create DDI Target</a:t>
            </a:r>
          </a:p>
          <a:p>
            <a:pPr algn="ctr"/>
            <a:r>
              <a:rPr lang="en-IN" dirty="0"/>
              <a:t>(1 =  DDI</a:t>
            </a:r>
          </a:p>
          <a:p>
            <a:pPr algn="ctr"/>
            <a:r>
              <a:rPr lang="en-IN" dirty="0"/>
              <a:t>0 = No DDI)</a:t>
            </a:r>
          </a:p>
          <a:p>
            <a:pPr algn="ctr"/>
            <a:r>
              <a:rPr lang="en-IN" dirty="0"/>
              <a:t> │</a:t>
            </a:r>
          </a:p>
          <a:p>
            <a:pPr algn="ctr"/>
            <a:r>
              <a:rPr lang="en-IN" dirty="0"/>
              <a:t> ▼</a:t>
            </a:r>
          </a:p>
          <a:p>
            <a:pPr algn="ctr"/>
            <a:r>
              <a:rPr lang="en-IN" dirty="0"/>
              <a:t>Train Logistic</a:t>
            </a:r>
          </a:p>
          <a:p>
            <a:pPr algn="ctr"/>
            <a:r>
              <a:rPr lang="en-IN" dirty="0"/>
              <a:t>Regression Model</a:t>
            </a:r>
          </a:p>
          <a:p>
            <a:pPr algn="ctr"/>
            <a:r>
              <a:rPr lang="en-IN" dirty="0"/>
              <a:t> │</a:t>
            </a:r>
          </a:p>
          <a:p>
            <a:pPr algn="ctr"/>
            <a:r>
              <a:rPr lang="en-IN" dirty="0"/>
              <a:t> ▼</a:t>
            </a:r>
          </a:p>
          <a:p>
            <a:pPr algn="ctr"/>
            <a:r>
              <a:rPr lang="en-IN" dirty="0"/>
              <a:t>Odds Ratio</a:t>
            </a:r>
          </a:p>
          <a:p>
            <a:pPr algn="ctr"/>
            <a:r>
              <a:rPr lang="en-IN" dirty="0"/>
              <a:t>95% CI</a:t>
            </a:r>
          </a:p>
          <a:p>
            <a:pPr algn="ctr"/>
            <a:r>
              <a:rPr lang="en-IN" dirty="0"/>
              <a:t>P-value</a:t>
            </a:r>
          </a:p>
        </p:txBody>
      </p:sp>
    </p:spTree>
    <p:extLst>
      <p:ext uri="{BB962C8B-B14F-4D97-AF65-F5344CB8AC3E}">
        <p14:creationId xmlns:p14="http://schemas.microsoft.com/office/powerpoint/2010/main" val="324549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6332-8D86-1D59-CCD9-CFD73036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847B-F840-9B99-34F5-E697EE60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0" y="570270"/>
            <a:ext cx="10571998" cy="670489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lvl="0"/>
            <a:r>
              <a:rPr lang="en-IN" u="sng" dirty="0"/>
              <a:t>Multivariate Logistic Regression – Results</a:t>
            </a:r>
            <a:endParaRPr lang="en-US" u="sng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C1520-9B3B-DA45-FD03-D96B6F287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543" y="1156237"/>
            <a:ext cx="6548836" cy="538618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500" u="sng" dirty="0"/>
              <a:t>Key Findings</a:t>
            </a:r>
          </a:p>
          <a:p>
            <a:pPr algn="l"/>
            <a:r>
              <a:rPr lang="en-IN" dirty="0"/>
              <a:t>Age</a:t>
            </a:r>
          </a:p>
          <a:p>
            <a:pPr algn="l"/>
            <a:r>
              <a:rPr lang="en-IN" b="0" dirty="0"/>
              <a:t>Age was significantly associated with the occurrence of potential DDIs </a:t>
            </a:r>
            <a:r>
              <a:rPr lang="en-IN" dirty="0"/>
              <a:t>(OR = 1.044, 95% CI: 1.029–1.059, p &lt; 0.001</a:t>
            </a:r>
            <a:r>
              <a:rPr lang="en-IN" b="0" dirty="0"/>
              <a:t>). </a:t>
            </a:r>
          </a:p>
          <a:p>
            <a:pPr algn="l"/>
            <a:r>
              <a:rPr lang="en-IN" b="0" dirty="0"/>
              <a:t>Each </a:t>
            </a:r>
            <a:r>
              <a:rPr lang="en-IN" dirty="0"/>
              <a:t>one-year increase in age increased the odds of experiencing a DDI by approximately 4.4%. </a:t>
            </a:r>
          </a:p>
          <a:p>
            <a:pPr algn="l"/>
            <a:r>
              <a:rPr lang="en-IN" b="0" dirty="0"/>
              <a:t>The </a:t>
            </a:r>
            <a:r>
              <a:rPr lang="en-IN" dirty="0"/>
              <a:t>95% confidence interval excluded 1</a:t>
            </a:r>
            <a:r>
              <a:rPr lang="en-IN" b="0" dirty="0"/>
              <a:t>, indicating a consistent positive association, and </a:t>
            </a:r>
            <a:r>
              <a:rPr lang="en-IN" dirty="0"/>
              <a:t>the p-value (&lt; 0.001) confirmed that this association was highly statistically significant</a:t>
            </a:r>
            <a:r>
              <a:rPr lang="en-IN" b="0" dirty="0"/>
              <a:t>. </a:t>
            </a:r>
          </a:p>
          <a:p>
            <a:pPr algn="l"/>
            <a:r>
              <a:rPr lang="en-IN" b="0" dirty="0"/>
              <a:t>Inference: </a:t>
            </a:r>
            <a:r>
              <a:rPr lang="en-IN" dirty="0"/>
              <a:t>Older </a:t>
            </a:r>
            <a:r>
              <a:rPr lang="en-IN" dirty="0" err="1"/>
              <a:t>pediatric</a:t>
            </a:r>
            <a:r>
              <a:rPr lang="en-IN" dirty="0"/>
              <a:t> patients had a slightly higher likelihood of experiencing potential DDIs</a:t>
            </a:r>
            <a:r>
              <a:rPr lang="en-IN" b="0" dirty="0"/>
              <a:t>.</a:t>
            </a:r>
          </a:p>
          <a:p>
            <a:pPr algn="l"/>
            <a:r>
              <a:rPr lang="en-IN" dirty="0"/>
              <a:t>Gender</a:t>
            </a:r>
          </a:p>
          <a:p>
            <a:pPr algn="l"/>
            <a:r>
              <a:rPr lang="en-IN" b="0" dirty="0"/>
              <a:t>Gender was significantly associated with DDI occurrence </a:t>
            </a:r>
            <a:r>
              <a:rPr lang="en-IN" dirty="0"/>
              <a:t>(OR = 0.714, 95% CI: 0.631–0.807, p &lt; 0.001). </a:t>
            </a:r>
          </a:p>
          <a:p>
            <a:pPr algn="l"/>
            <a:r>
              <a:rPr lang="en-IN" b="0" dirty="0"/>
              <a:t>The </a:t>
            </a:r>
            <a:r>
              <a:rPr lang="en-IN" dirty="0"/>
              <a:t>category coded as 1 had approximately 28.6% lower odds of experiencing a DDI compared with the reference category</a:t>
            </a:r>
            <a:r>
              <a:rPr lang="en-IN" b="0" dirty="0"/>
              <a:t>. </a:t>
            </a:r>
          </a:p>
          <a:p>
            <a:pPr algn="l"/>
            <a:r>
              <a:rPr lang="en-IN" b="0" dirty="0"/>
              <a:t>The </a:t>
            </a:r>
            <a:r>
              <a:rPr lang="en-IN" dirty="0"/>
              <a:t>confidence interval did not include 1</a:t>
            </a:r>
            <a:r>
              <a:rPr lang="en-IN" b="0" dirty="0"/>
              <a:t>, and the </a:t>
            </a:r>
            <a:r>
              <a:rPr lang="en-IN" dirty="0"/>
              <a:t>very small p-value (&lt; 0.001) provided strong evidence that the association was statistically significan</a:t>
            </a:r>
            <a:r>
              <a:rPr lang="en-IN" b="0" dirty="0"/>
              <a:t>t. </a:t>
            </a:r>
          </a:p>
          <a:p>
            <a:pPr lvl="0" algn="l"/>
            <a:r>
              <a:rPr lang="en-IN" b="0" dirty="0"/>
              <a:t>Inference: Gender remained an independent predictor of DDI occurrence in the multivariate model, indicating that differences in DDI risk existed between the two gender groups after controlling for the other covariates.</a:t>
            </a:r>
            <a:endParaRPr lang="en-US" b="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D5133-0185-F28E-6FEE-FC198884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379" y="2143432"/>
            <a:ext cx="4790078" cy="341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8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0992-994B-36D0-A765-D73E4942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F568-8B3A-EFA9-5782-99674537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0" y="570270"/>
            <a:ext cx="10571998" cy="670489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lvl="0"/>
            <a:r>
              <a:rPr lang="en-IN" u="sng" dirty="0"/>
              <a:t>Multivariate Logistic Regression – Results</a:t>
            </a:r>
            <a:endParaRPr lang="en-US" u="sng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96380-89DA-6263-9F09-89F97085E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63" y="1445341"/>
            <a:ext cx="11057534" cy="51815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/>
              <a:t>Number of Prescribed Drugs (Polypharmacy)</a:t>
            </a:r>
          </a:p>
          <a:p>
            <a:pPr algn="l"/>
            <a:r>
              <a:rPr lang="en-IN" b="0" dirty="0"/>
              <a:t>The number of prescribed drugs was the strongest predictor of potential DDIs </a:t>
            </a:r>
            <a:r>
              <a:rPr lang="en-IN" dirty="0"/>
              <a:t>(OR = 1.816, 95% CI: 1.761–1.873, p &lt; 0.001). </a:t>
            </a:r>
          </a:p>
          <a:p>
            <a:pPr algn="l"/>
            <a:r>
              <a:rPr lang="en-IN" dirty="0"/>
              <a:t>Each additional prescribed medication increased the odds of experiencing a potential DDI by approximately 81.6%. </a:t>
            </a:r>
          </a:p>
          <a:p>
            <a:pPr algn="l"/>
            <a:r>
              <a:rPr lang="en-IN" b="0" dirty="0"/>
              <a:t>The </a:t>
            </a:r>
            <a:r>
              <a:rPr lang="en-IN" dirty="0"/>
              <a:t>narrow confidence interval, which remained entirely above </a:t>
            </a:r>
            <a:r>
              <a:rPr lang="en-IN" b="0" dirty="0"/>
              <a:t>1, together with the </a:t>
            </a:r>
            <a:r>
              <a:rPr lang="en-IN" dirty="0"/>
              <a:t>highly significant p-value (&lt; 0.001), indicated a strong and precise association</a:t>
            </a:r>
            <a:r>
              <a:rPr lang="en-IN" b="0" dirty="0"/>
              <a:t>. </a:t>
            </a:r>
          </a:p>
          <a:p>
            <a:pPr algn="l"/>
            <a:r>
              <a:rPr lang="en-IN" dirty="0"/>
              <a:t>Inference</a:t>
            </a:r>
            <a:r>
              <a:rPr lang="en-IN" b="0" dirty="0"/>
              <a:t>: Polypharmacy was the most important independent risk factor for potential DDIs.</a:t>
            </a:r>
          </a:p>
          <a:p>
            <a:pPr algn="l"/>
            <a:r>
              <a:rPr lang="en-IN" dirty="0"/>
              <a:t>Mortality</a:t>
            </a:r>
          </a:p>
          <a:p>
            <a:pPr algn="l"/>
            <a:r>
              <a:rPr lang="en-IN" b="0" dirty="0"/>
              <a:t>Mortality showed an estimated </a:t>
            </a:r>
            <a:r>
              <a:rPr lang="en-IN" dirty="0"/>
              <a:t>OR = 1.126 (95% CI: 0.992–1.278, p = 0.067). </a:t>
            </a:r>
          </a:p>
          <a:p>
            <a:pPr algn="l"/>
            <a:r>
              <a:rPr lang="en-IN" b="0" dirty="0"/>
              <a:t>Although the estimated odds suggested a 12.6% higher likelihood of experiencing a DDI, the </a:t>
            </a:r>
            <a:r>
              <a:rPr lang="en-IN" dirty="0"/>
              <a:t>confidence interval included 1</a:t>
            </a:r>
            <a:r>
              <a:rPr lang="en-IN" b="0" dirty="0"/>
              <a:t>, meaning the true effect could include no association. </a:t>
            </a:r>
          </a:p>
          <a:p>
            <a:pPr algn="l"/>
            <a:r>
              <a:rPr lang="en-IN" b="0" dirty="0"/>
              <a:t>The </a:t>
            </a:r>
            <a:r>
              <a:rPr lang="en-IN" dirty="0"/>
              <a:t>p-value (0.067) was greater than the significance threshold of 0.05, indicating that the observed association was not statistically significant. </a:t>
            </a:r>
          </a:p>
          <a:p>
            <a:pPr algn="l"/>
            <a:r>
              <a:rPr lang="en-IN" b="0" dirty="0"/>
              <a:t>Inference: After adjusting for age, gender, and the number of prescribed drugs, mortality was not independently associated with the occurrence of potential DDIs.</a:t>
            </a:r>
          </a:p>
          <a:p>
            <a:pPr lvl="0" algn="l"/>
            <a:endParaRPr lang="en-US" b="0" noProof="0" dirty="0"/>
          </a:p>
        </p:txBody>
      </p:sp>
    </p:spTree>
    <p:extLst>
      <p:ext uri="{BB962C8B-B14F-4D97-AF65-F5344CB8AC3E}">
        <p14:creationId xmlns:p14="http://schemas.microsoft.com/office/powerpoint/2010/main" val="2161426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A015-C3E6-AFEB-4563-FC1D93BD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9CC8-3ABE-5F80-5412-C74AB098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0" y="570270"/>
            <a:ext cx="10571998" cy="670489"/>
          </a:xfrm>
        </p:spPr>
        <p:txBody>
          <a:bodyPr/>
          <a:lstStyle/>
          <a:p>
            <a:pPr lvl="0"/>
            <a:r>
              <a:rPr lang="en-US" u="sng" noProof="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4E397-CE62-FBCF-7284-0A8D7B722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6" y="1240760"/>
            <a:ext cx="10571998" cy="5238698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accent4"/>
                </a:solidFill>
              </a:rPr>
              <a:t>Key Takeaways</a:t>
            </a:r>
          </a:p>
          <a:p>
            <a:r>
              <a:rPr lang="en-IN" b="0" dirty="0"/>
              <a:t>Developed an automated pipeline to detect potential Drug–Drug Interactions (DDIs) from </a:t>
            </a:r>
            <a:r>
              <a:rPr lang="en-IN" b="0" dirty="0" err="1"/>
              <a:t>pediatric</a:t>
            </a:r>
            <a:r>
              <a:rPr lang="en-IN" b="0" dirty="0"/>
              <a:t> ICU clinical notes using the </a:t>
            </a:r>
            <a:r>
              <a:rPr lang="en-IN" b="0" dirty="0" err="1"/>
              <a:t>SafeICU</a:t>
            </a:r>
            <a:r>
              <a:rPr lang="en-IN" b="0" dirty="0"/>
              <a:t> dataset and the </a:t>
            </a:r>
            <a:r>
              <a:rPr lang="en-IN" b="0" dirty="0" err="1"/>
              <a:t>DDInter</a:t>
            </a:r>
            <a:r>
              <a:rPr lang="en-IN" b="0" dirty="0"/>
              <a:t> database. </a:t>
            </a:r>
          </a:p>
          <a:p>
            <a:r>
              <a:rPr lang="en-IN" b="0" dirty="0"/>
              <a:t>Identified and classified potential DDIs into Major, Moderate, and Minor severity categories for each patient-day. </a:t>
            </a:r>
          </a:p>
          <a:p>
            <a:r>
              <a:rPr lang="en-IN" b="0" dirty="0"/>
              <a:t>Multivariate logistic regression showed that age, gender, and especially the number of prescribed drugs (polypharmacy) were significantly associated with DDI occurrence. </a:t>
            </a:r>
          </a:p>
          <a:p>
            <a:r>
              <a:rPr lang="en-IN" u="sng" dirty="0">
                <a:solidFill>
                  <a:schemeClr val="accent4"/>
                </a:solidFill>
              </a:rPr>
              <a:t>Future Scope</a:t>
            </a:r>
          </a:p>
          <a:p>
            <a:pPr lvl="0"/>
            <a:r>
              <a:rPr lang="en-IN" b="0" dirty="0"/>
              <a:t>Re-examine the complete data preprocessing pipeline to identify and correct any inconsistencies.</a:t>
            </a:r>
          </a:p>
          <a:p>
            <a:pPr lvl="0"/>
            <a:r>
              <a:rPr lang="en-IN" b="0" dirty="0"/>
              <a:t> Validate the analytical results by comparing them with the published methodology and making necessary improvements. </a:t>
            </a:r>
          </a:p>
          <a:p>
            <a:pPr lvl="0"/>
            <a:r>
              <a:rPr lang="en-IN" b="0" dirty="0"/>
              <a:t>Continue improving the project by incorporating feedback received during the project review.</a:t>
            </a:r>
            <a:endParaRPr lang="en-US" b="0" noProof="0" dirty="0"/>
          </a:p>
        </p:txBody>
      </p:sp>
    </p:spTree>
    <p:extLst>
      <p:ext uri="{BB962C8B-B14F-4D97-AF65-F5344CB8AC3E}">
        <p14:creationId xmlns:p14="http://schemas.microsoft.com/office/powerpoint/2010/main" val="199086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DF7A40A-D3AC-830E-45F4-41777C2364DF}"/>
              </a:ext>
            </a:extLst>
          </p:cNvPr>
          <p:cNvSpPr/>
          <p:nvPr/>
        </p:nvSpPr>
        <p:spPr>
          <a:xfrm>
            <a:off x="2356701" y="1480009"/>
            <a:ext cx="7286920" cy="34879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86D55-C1B5-CD00-C49B-9CC5E036C98D}"/>
              </a:ext>
            </a:extLst>
          </p:cNvPr>
          <p:cNvSpPr txBox="1"/>
          <p:nvPr/>
        </p:nvSpPr>
        <p:spPr>
          <a:xfrm>
            <a:off x="3271101" y="2658359"/>
            <a:ext cx="5382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accent4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THANK YOU </a:t>
            </a:r>
          </a:p>
        </p:txBody>
      </p:sp>
      <p:pic>
        <p:nvPicPr>
          <p:cNvPr id="7" name="Picture 6" descr="Logo Usage Guidelines | IIIT-Delhi">
            <a:extLst>
              <a:ext uri="{FF2B5EF4-FFF2-40B4-BE49-F238E27FC236}">
                <a16:creationId xmlns:a16="http://schemas.microsoft.com/office/drawing/2014/main" id="{7793279C-14C6-6041-1553-6CBDAC8C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2" y="395919"/>
            <a:ext cx="1091380" cy="657480"/>
          </a:xfrm>
          <a:prstGeom prst="rect">
            <a:avLst/>
          </a:prstGeom>
        </p:spPr>
      </p:pic>
      <p:pic>
        <p:nvPicPr>
          <p:cNvPr id="9" name="Picture 8" descr="Manipal - New logo #newBeginning #ManipalUniversity | Facebook">
            <a:extLst>
              <a:ext uri="{FF2B5EF4-FFF2-40B4-BE49-F238E27FC236}">
                <a16:creationId xmlns:a16="http://schemas.microsoft.com/office/drawing/2014/main" id="{0DAD8166-5850-1A2E-E27B-B9BA0183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954" y="395919"/>
            <a:ext cx="678424" cy="657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EC00F8-83FD-39A4-F074-4F90B48E4FED}"/>
              </a:ext>
            </a:extLst>
          </p:cNvPr>
          <p:cNvSpPr txBox="1"/>
          <p:nvPr/>
        </p:nvSpPr>
        <p:spPr>
          <a:xfrm>
            <a:off x="550606" y="5037038"/>
            <a:ext cx="3755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</a:t>
            </a:r>
            <a:br>
              <a:rPr lang="en-IN" dirty="0"/>
            </a:br>
            <a:r>
              <a:rPr lang="en-IN" b="1" dirty="0"/>
              <a:t>Aaron Augustine Fernandes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Information Technology</a:t>
            </a:r>
            <a:br>
              <a:rPr lang="en-IN" dirty="0"/>
            </a:br>
            <a:r>
              <a:rPr lang="en-IN" dirty="0"/>
              <a:t>Manipal Institute of Technology, Bengaluru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86536-8E6E-427F-CE29-4AA7C7CD05BC}"/>
              </a:ext>
            </a:extLst>
          </p:cNvPr>
          <p:cNvSpPr txBox="1"/>
          <p:nvPr/>
        </p:nvSpPr>
        <p:spPr>
          <a:xfrm>
            <a:off x="5201267" y="5060881"/>
            <a:ext cx="2684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Faculty Guide</a:t>
            </a:r>
            <a:br>
              <a:rPr lang="en-IN" dirty="0"/>
            </a:br>
            <a:r>
              <a:rPr lang="en-IN" b="1" dirty="0"/>
              <a:t>Prof. </a:t>
            </a:r>
            <a:r>
              <a:rPr lang="en-IN" b="1" dirty="0" err="1"/>
              <a:t>Tavpritesh</a:t>
            </a:r>
            <a:r>
              <a:rPr lang="en-IN" b="1" dirty="0"/>
              <a:t> Sethi</a:t>
            </a:r>
            <a:br>
              <a:rPr lang="en-IN" dirty="0"/>
            </a:br>
            <a:r>
              <a:rPr lang="en-IN" dirty="0"/>
              <a:t>IIIT Delhi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9C51A-66A5-62D4-D104-D4EE5659C02D}"/>
              </a:ext>
            </a:extLst>
          </p:cNvPr>
          <p:cNvSpPr txBox="1"/>
          <p:nvPr/>
        </p:nvSpPr>
        <p:spPr>
          <a:xfrm>
            <a:off x="9547122" y="5139203"/>
            <a:ext cx="3067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Mentor</a:t>
            </a:r>
            <a:br>
              <a:rPr lang="en-IN" dirty="0"/>
            </a:br>
            <a:r>
              <a:rPr lang="en-IN" b="1" dirty="0"/>
              <a:t>Ms. Mansi Goel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620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{186049A8-19DD-434A-A506-DC8B618A10CB}TF4e23ad37-c1a6-42e6-a6ec-6518d97eca9ec3cad5d6_win32-e4fb00466b0d</Template>
  <TotalTime>2283</TotalTime>
  <Words>1878</Words>
  <Application>Microsoft Office PowerPoint</Application>
  <PresentationFormat>Widescreen</PresentationFormat>
  <Paragraphs>221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Black</vt:lpstr>
      <vt:lpstr>Berlin Sans FB Demi</vt:lpstr>
      <vt:lpstr>Calibri</vt:lpstr>
      <vt:lpstr>Century Gothic</vt:lpstr>
      <vt:lpstr>Wingdings 2</vt:lpstr>
      <vt:lpstr>Quotable</vt:lpstr>
      <vt:lpstr>Potential Drug-Drug Interactions in the Pediatric Intensive Care Unit  An Analysis using Safe ICU and DD Inter Drug Database A Project Presentation </vt:lpstr>
      <vt:lpstr>Background</vt:lpstr>
      <vt:lpstr>Problem Statement And Objective</vt:lpstr>
      <vt:lpstr>Datasets Used</vt:lpstr>
      <vt:lpstr>Methodology  Overview</vt:lpstr>
      <vt:lpstr>Methodology</vt:lpstr>
      <vt:lpstr>PowerPoint Presentation</vt:lpstr>
      <vt:lpstr>PowerPoint Presentation</vt:lpstr>
      <vt:lpstr>Final Analytical Dataset</vt:lpstr>
      <vt:lpstr>Most Frequent Drug Interactions </vt:lpstr>
      <vt:lpstr>Exploratory Results</vt:lpstr>
      <vt:lpstr>Multivariate Logistic Regression – Model Development</vt:lpstr>
      <vt:lpstr>Multivariate Logistic Regression – Results</vt:lpstr>
      <vt:lpstr>Multivariate Logistic Regression – 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Fernandes</dc:creator>
  <cp:lastModifiedBy>Aaron Fernandes</cp:lastModifiedBy>
  <cp:revision>6</cp:revision>
  <dcterms:created xsi:type="dcterms:W3CDTF">2026-07-20T09:30:12Z</dcterms:created>
  <dcterms:modified xsi:type="dcterms:W3CDTF">2026-07-22T19:46:26Z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